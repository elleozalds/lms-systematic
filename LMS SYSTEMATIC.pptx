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3"/>
  </p:sldMasterIdLst>
  <p:notesMasterIdLst>
    <p:notesMasterId r:id="rId15"/>
  </p:notesMasterIdLst>
  <p:handoutMasterIdLst>
    <p:handoutMasterId r:id="rId16"/>
  </p:handoutMasterIdLst>
  <p:sldIdLst>
    <p:sldId id="256" r:id="rId4"/>
    <p:sldId id="257" r:id="rId5"/>
    <p:sldId id="276" r:id="rId6"/>
    <p:sldId id="315" r:id="rId7"/>
    <p:sldId id="267" r:id="rId8"/>
    <p:sldId id="269" r:id="rId9"/>
    <p:sldId id="314" r:id="rId10"/>
    <p:sldId id="275" r:id="rId11"/>
    <p:sldId id="273" r:id="rId12"/>
    <p:sldId id="272" r:id="rId13"/>
    <p:sldId id="258" r:id="rId14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FD5EA"/>
    <a:srgbClr val="5B9BD5"/>
    <a:srgbClr val="BF9000"/>
    <a:srgbClr val="FFD966"/>
    <a:srgbClr val="2E75B6"/>
    <a:srgbClr val="1F4E79"/>
    <a:srgbClr val="FFFFFF"/>
    <a:srgbClr val="E9EBF5"/>
    <a:srgbClr val="00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Estilo medio 1 - Énfasis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52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4" y="6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3154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viewProps" Target="viewProps.xml"/><Relationship Id="rId3" Type="http://schemas.openxmlformats.org/officeDocument/2006/relationships/slideMaster" Target="slideMasters/slideMaster1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7.xml"/><Relationship Id="rId19" Type="http://schemas.openxmlformats.org/officeDocument/2006/relationships/theme" Target="theme/theme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131258AA-DCE3-4147-A024-FF8F00C7990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DE36C672-148A-43B1-9E67-F7B85A023B2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FA1CF3-2431-4055-8505-DE13A5AD2026}" type="datetimeFigureOut">
              <a:rPr lang="es-PE" smtClean="0"/>
              <a:t>8/07/2026</a:t>
            </a:fld>
            <a:endParaRPr lang="es-PE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E0AC772-31C3-478D-8297-8A294D58684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AB04D64-347E-4582-882D-FC54158619D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067BB4-BC0D-41B7-B2A0-17E9318BA45B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67777740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E407C3-127A-44B4-A0A1-F37B6ED9E88D}" type="datetimeFigureOut">
              <a:rPr lang="es-PE" smtClean="0"/>
              <a:t>8/07/2026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62FF05-1BF2-4C6A-A664-4CFAA43DAB25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613469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n 15">
            <a:extLst>
              <a:ext uri="{FF2B5EF4-FFF2-40B4-BE49-F238E27FC236}">
                <a16:creationId xmlns:a16="http://schemas.microsoft.com/office/drawing/2014/main" id="{AC669BA8-EA18-4534-81B3-0ACF30A868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7612DFD6-7191-4F65-A872-1A983A50DA0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42646" y="5029014"/>
            <a:ext cx="10811608" cy="643671"/>
          </a:xfrm>
        </p:spPr>
        <p:txBody>
          <a:bodyPr anchor="b"/>
          <a:lstStyle>
            <a:lvl1pPr algn="l">
              <a:defRPr sz="3000" b="1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s-ES" dirty="0"/>
              <a:t>Haga clic para colocar el título del patrón</a:t>
            </a:r>
            <a:endParaRPr lang="es-PE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474F7AB-2C9A-4A8C-9DEE-3D6ECADFD4C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33852" y="6041963"/>
            <a:ext cx="7356230" cy="446759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dirty="0"/>
              <a:t>Haga clic para colocar el o los nombres de los ponentes</a:t>
            </a:r>
            <a:endParaRPr lang="es-PE" dirty="0"/>
          </a:p>
        </p:txBody>
      </p:sp>
      <p:sp>
        <p:nvSpPr>
          <p:cNvPr id="4" name="Rectángulo 3"/>
          <p:cNvSpPr/>
          <p:nvPr userDrawn="1"/>
        </p:nvSpPr>
        <p:spPr>
          <a:xfrm>
            <a:off x="8590082" y="5672685"/>
            <a:ext cx="3601918" cy="1185315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1361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Imagen 19">
            <a:extLst>
              <a:ext uri="{FF2B5EF4-FFF2-40B4-BE49-F238E27FC236}">
                <a16:creationId xmlns:a16="http://schemas.microsoft.com/office/drawing/2014/main" id="{1C488C55-0902-4C05-96D0-9E2276544C4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24000" cy="6876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AC493FCB-8F9D-42A7-A044-81922489C3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77814" y="580292"/>
            <a:ext cx="8481648" cy="50275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s-PE" sz="3000" b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Haga clic para modificar el título del patrón</a:t>
            </a:r>
            <a:endParaRPr lang="es-PE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73D8D81-51A9-4B8F-A578-074FBD53ED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PE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594B94AA-0E99-4CE9-8845-FE78EC9C164E}"/>
              </a:ext>
            </a:extLst>
          </p:cNvPr>
          <p:cNvSpPr txBox="1"/>
          <p:nvPr userDrawn="1"/>
        </p:nvSpPr>
        <p:spPr>
          <a:xfrm>
            <a:off x="11517389" y="6163408"/>
            <a:ext cx="5363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442B1B3D-5896-48BC-8A16-EE3962E658B6}" type="slidenum">
              <a:rPr lang="es-PE" sz="1400" b="1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/>
              <a:t>‹Nº›</a:t>
            </a:fld>
            <a:endParaRPr lang="es-PE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E24DC0A2-C127-4071-AC71-34BC932974C4}"/>
              </a:ext>
            </a:extLst>
          </p:cNvPr>
          <p:cNvSpPr txBox="1"/>
          <p:nvPr userDrawn="1"/>
        </p:nvSpPr>
        <p:spPr>
          <a:xfrm>
            <a:off x="4457700" y="6453601"/>
            <a:ext cx="5583115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s-PE" sz="1400" b="0" i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www.senati.edu.pe</a:t>
            </a:r>
          </a:p>
        </p:txBody>
      </p:sp>
      <p:sp>
        <p:nvSpPr>
          <p:cNvPr id="7" name="Rectángulo 6"/>
          <p:cNvSpPr/>
          <p:nvPr userDrawn="1"/>
        </p:nvSpPr>
        <p:spPr>
          <a:xfrm>
            <a:off x="-14418" y="6331527"/>
            <a:ext cx="3601918" cy="526473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296165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jetivo_Ses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0CA87C5E-00B0-410C-B803-F8A76D5377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F46A13FC-DBC9-4031-8F8A-40BE6D96D9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25062" y="589085"/>
            <a:ext cx="8551984" cy="591650"/>
          </a:xfrm>
        </p:spPr>
        <p:txBody>
          <a:bodyPr/>
          <a:lstStyle>
            <a:lvl1pPr>
              <a:defRPr sz="3000" b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s-ES" dirty="0"/>
              <a:t>Haga clic para modificar el título del Objetivo</a:t>
            </a:r>
            <a:endParaRPr lang="es-PE" dirty="0"/>
          </a:p>
        </p:txBody>
      </p:sp>
      <p:sp>
        <p:nvSpPr>
          <p:cNvPr id="8" name="Subtítulo 2">
            <a:extLst>
              <a:ext uri="{FF2B5EF4-FFF2-40B4-BE49-F238E27FC236}">
                <a16:creationId xmlns:a16="http://schemas.microsoft.com/office/drawing/2014/main" id="{99241507-AFFD-411A-B71D-5CE11C1FC1A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565532" y="2325994"/>
            <a:ext cx="5257796" cy="2206014"/>
          </a:xfrm>
        </p:spPr>
        <p:txBody>
          <a:bodyPr>
            <a:normAutofit/>
          </a:bodyPr>
          <a:lstStyle>
            <a:lvl1pPr marL="0" indent="0" algn="just">
              <a:buNone/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dirty="0"/>
              <a:t>Haga clic para colocar el o los Objetivos de la sesión</a:t>
            </a:r>
            <a:endParaRPr lang="es-PE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700C4368-9911-4D8A-9385-7A12D39073F6}"/>
              </a:ext>
            </a:extLst>
          </p:cNvPr>
          <p:cNvSpPr txBox="1"/>
          <p:nvPr userDrawn="1"/>
        </p:nvSpPr>
        <p:spPr>
          <a:xfrm>
            <a:off x="11489681" y="6149554"/>
            <a:ext cx="5363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442B1B3D-5896-48BC-8A16-EE3962E658B6}" type="slidenum">
              <a:rPr lang="es-PE" sz="1400" b="1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/>
              <a:t>‹Nº›</a:t>
            </a:fld>
            <a:endParaRPr lang="es-PE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01C6F635-A9E8-4FA9-BE2B-03414A1F1A90}"/>
              </a:ext>
            </a:extLst>
          </p:cNvPr>
          <p:cNvSpPr txBox="1"/>
          <p:nvPr userDrawn="1"/>
        </p:nvSpPr>
        <p:spPr>
          <a:xfrm>
            <a:off x="4457700" y="6453601"/>
            <a:ext cx="5583115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s-PE" sz="1400" b="0" i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www.senati.edu.pe</a:t>
            </a:r>
          </a:p>
        </p:txBody>
      </p:sp>
      <p:sp>
        <p:nvSpPr>
          <p:cNvPr id="9" name="Rectángulo 8"/>
          <p:cNvSpPr/>
          <p:nvPr userDrawn="1"/>
        </p:nvSpPr>
        <p:spPr>
          <a:xfrm>
            <a:off x="-14418" y="6331527"/>
            <a:ext cx="3601918" cy="526473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33790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dir="u" isContent="1" isInverted="1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jetivos_fondo_Transparen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1606076A-D971-43BC-94AE-A6D2E871349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Subtítulo 2">
            <a:extLst>
              <a:ext uri="{FF2B5EF4-FFF2-40B4-BE49-F238E27FC236}">
                <a16:creationId xmlns:a16="http://schemas.microsoft.com/office/drawing/2014/main" id="{E8B119EB-DFBA-48B6-ABA1-67CD0FC0147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565532" y="2325994"/>
            <a:ext cx="5257796" cy="2206014"/>
          </a:xfrm>
        </p:spPr>
        <p:txBody>
          <a:bodyPr>
            <a:normAutofit/>
          </a:bodyPr>
          <a:lstStyle>
            <a:lvl1pPr marL="0" indent="0" algn="just">
              <a:buNone/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dirty="0"/>
              <a:t>Haga clic para colocar el o los Objetivos de la sesión</a:t>
            </a:r>
            <a:endParaRPr lang="es-PE" dirty="0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6A7C5C9D-38AD-4CAF-A614-8B4123265F5E}"/>
              </a:ext>
            </a:extLst>
          </p:cNvPr>
          <p:cNvSpPr txBox="1"/>
          <p:nvPr userDrawn="1"/>
        </p:nvSpPr>
        <p:spPr>
          <a:xfrm>
            <a:off x="11489681" y="6149554"/>
            <a:ext cx="5363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442B1B3D-5896-48BC-8A16-EE3962E658B6}" type="slidenum">
              <a:rPr lang="es-PE" sz="1400" b="1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/>
              <a:t>‹Nº›</a:t>
            </a:fld>
            <a:endParaRPr lang="es-PE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08D78B12-7E28-4BFE-9EF7-ABF65408E421}"/>
              </a:ext>
            </a:extLst>
          </p:cNvPr>
          <p:cNvSpPr txBox="1"/>
          <p:nvPr userDrawn="1"/>
        </p:nvSpPr>
        <p:spPr>
          <a:xfrm>
            <a:off x="4457700" y="6453601"/>
            <a:ext cx="5583115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s-PE" sz="1400" b="0" i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www.senati.edu.pe</a:t>
            </a:r>
          </a:p>
        </p:txBody>
      </p:sp>
      <p:sp>
        <p:nvSpPr>
          <p:cNvPr id="11" name="Título 1">
            <a:extLst>
              <a:ext uri="{FF2B5EF4-FFF2-40B4-BE49-F238E27FC236}">
                <a16:creationId xmlns:a16="http://schemas.microsoft.com/office/drawing/2014/main" id="{C39729CF-B835-4462-B2A3-8E74211EAD4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25062" y="589085"/>
            <a:ext cx="8551984" cy="591650"/>
          </a:xfrm>
        </p:spPr>
        <p:txBody>
          <a:bodyPr/>
          <a:lstStyle>
            <a:lvl1pPr>
              <a:defRPr sz="3000" b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s-ES" dirty="0"/>
              <a:t>Haga clic para modificar el título del Objetivo</a:t>
            </a:r>
            <a:endParaRPr lang="es-PE" dirty="0"/>
          </a:p>
        </p:txBody>
      </p:sp>
      <p:sp>
        <p:nvSpPr>
          <p:cNvPr id="12" name="Rectángulo 11"/>
          <p:cNvSpPr/>
          <p:nvPr userDrawn="1"/>
        </p:nvSpPr>
        <p:spPr>
          <a:xfrm>
            <a:off x="-14418" y="6331527"/>
            <a:ext cx="3601918" cy="526473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03426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00">
        <p14:warp dir="in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ctividades_Previ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>
            <a:extLst>
              <a:ext uri="{FF2B5EF4-FFF2-40B4-BE49-F238E27FC236}">
                <a16:creationId xmlns:a16="http://schemas.microsoft.com/office/drawing/2014/main" id="{6031FA52-B623-49A3-AD66-B7AA5E2ABF6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40415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A3CC9043-547B-4233-A754-F4B1D9E334A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4041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BA4173D8-55C6-4B53-9F4B-5EF82DBC92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05653" y="527538"/>
            <a:ext cx="8747239" cy="635611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s-PE" sz="3000" b="1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Clic para cambiar título de actividades previas</a:t>
            </a:r>
            <a:endParaRPr lang="es-PE" dirty="0"/>
          </a:p>
        </p:txBody>
      </p:sp>
      <p:sp>
        <p:nvSpPr>
          <p:cNvPr id="8" name="Subtítulo 2">
            <a:extLst>
              <a:ext uri="{FF2B5EF4-FFF2-40B4-BE49-F238E27FC236}">
                <a16:creationId xmlns:a16="http://schemas.microsoft.com/office/drawing/2014/main" id="{659F0436-9A88-477D-A47A-52A54501932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416063" y="1690689"/>
            <a:ext cx="5257796" cy="821652"/>
          </a:xfrm>
        </p:spPr>
        <p:txBody>
          <a:bodyPr>
            <a:normAutofit/>
          </a:bodyPr>
          <a:lstStyle>
            <a:lvl1pPr marL="0" indent="0" algn="just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dirty="0"/>
              <a:t>Haga clic para describir la acción a desarrollar</a:t>
            </a:r>
            <a:endParaRPr lang="es-PE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FB4E982-7212-421C-ADF0-3CF19F13A6A5}"/>
              </a:ext>
            </a:extLst>
          </p:cNvPr>
          <p:cNvSpPr txBox="1"/>
          <p:nvPr userDrawn="1"/>
        </p:nvSpPr>
        <p:spPr>
          <a:xfrm>
            <a:off x="11489681" y="6121846"/>
            <a:ext cx="5363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442B1B3D-5896-48BC-8A16-EE3962E658B6}" type="slidenum">
              <a:rPr lang="es-PE" sz="1400" b="1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/>
              <a:t>‹Nº›</a:t>
            </a:fld>
            <a:endParaRPr lang="es-PE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/>
          <p:cNvSpPr/>
          <p:nvPr userDrawn="1"/>
        </p:nvSpPr>
        <p:spPr>
          <a:xfrm>
            <a:off x="-14418" y="5999019"/>
            <a:ext cx="3601918" cy="858982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066399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utas de la ses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4F4C423A-06A6-4DA2-8B16-4BE8C17DA1B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35AC2699-4070-4C68-8FE6-8CE2607EAF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54724" y="650631"/>
            <a:ext cx="8806961" cy="521311"/>
          </a:xfrm>
        </p:spPr>
        <p:txBody>
          <a:bodyPr/>
          <a:lstStyle>
            <a:lvl1pPr>
              <a:defRPr lang="es-PE" sz="3000" b="1" kern="1200" dirty="0">
                <a:solidFill>
                  <a:srgbClr val="0070C0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lv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</a:pPr>
            <a:r>
              <a:rPr lang="es-ES" dirty="0"/>
              <a:t>Haga clic para describir las pautas de la sesión</a:t>
            </a:r>
            <a:endParaRPr lang="es-PE" dirty="0"/>
          </a:p>
        </p:txBody>
      </p:sp>
      <p:sp>
        <p:nvSpPr>
          <p:cNvPr id="8" name="Subtítulo 2">
            <a:extLst>
              <a:ext uri="{FF2B5EF4-FFF2-40B4-BE49-F238E27FC236}">
                <a16:creationId xmlns:a16="http://schemas.microsoft.com/office/drawing/2014/main" id="{815323C2-0646-4407-9C96-8A05EADC4EC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1548" y="4400978"/>
            <a:ext cx="1802421" cy="777691"/>
          </a:xfrm>
        </p:spPr>
        <p:txBody>
          <a:bodyPr>
            <a:noAutofit/>
          </a:bodyPr>
          <a:lstStyle>
            <a:lvl1pPr marL="0" indent="0" algn="just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dirty="0"/>
              <a:t>Haga clic para colocar descripción</a:t>
            </a:r>
            <a:endParaRPr lang="es-PE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583EC41-FD32-4DCD-94C9-31A697AF0C8F}"/>
              </a:ext>
            </a:extLst>
          </p:cNvPr>
          <p:cNvSpPr txBox="1"/>
          <p:nvPr userDrawn="1"/>
        </p:nvSpPr>
        <p:spPr>
          <a:xfrm>
            <a:off x="11482754" y="6128773"/>
            <a:ext cx="5363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442B1B3D-5896-48BC-8A16-EE3962E658B6}" type="slidenum">
              <a:rPr lang="es-PE" sz="1400" b="1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/>
              <a:t>‹Nº›</a:t>
            </a:fld>
            <a:endParaRPr lang="es-PE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ángulo 5"/>
          <p:cNvSpPr/>
          <p:nvPr userDrawn="1"/>
        </p:nvSpPr>
        <p:spPr>
          <a:xfrm>
            <a:off x="-14418" y="6087207"/>
            <a:ext cx="3601918" cy="79200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989397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dir="d" isContent="1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ctividad socialización Trabajo Equip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5D9A90F2-CDAA-4C37-86FB-A48FBEEE4F8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34709DC-53F7-40F6-A7EE-BFBB945CE3A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2838" y="465992"/>
            <a:ext cx="8745416" cy="732326"/>
          </a:xfrm>
        </p:spPr>
        <p:txBody>
          <a:bodyPr/>
          <a:lstStyle>
            <a:lvl1pPr>
              <a:defRPr lang="es-PE" sz="3000" b="1" kern="1200" dirty="0">
                <a:solidFill>
                  <a:srgbClr val="0070C0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lv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</a:pPr>
            <a:r>
              <a:rPr lang="es-ES" dirty="0"/>
              <a:t>Haga clic para colocar actividad de socialización o trabajo en equipo</a:t>
            </a:r>
            <a:endParaRPr lang="es-PE" dirty="0"/>
          </a:p>
        </p:txBody>
      </p:sp>
      <p:sp>
        <p:nvSpPr>
          <p:cNvPr id="8" name="Subtítulo 2">
            <a:extLst>
              <a:ext uri="{FF2B5EF4-FFF2-40B4-BE49-F238E27FC236}">
                <a16:creationId xmlns:a16="http://schemas.microsoft.com/office/drawing/2014/main" id="{B7CFF116-0F74-4F22-BDC4-F7512D5733C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863970" y="1664310"/>
            <a:ext cx="7904284" cy="821652"/>
          </a:xfrm>
        </p:spPr>
        <p:txBody>
          <a:bodyPr>
            <a:normAutofit/>
          </a:bodyPr>
          <a:lstStyle>
            <a:lvl1pPr marL="0" indent="0" algn="just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dirty="0"/>
              <a:t>Haga clic para describir la acción a desarrollar</a:t>
            </a:r>
            <a:endParaRPr lang="es-PE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D258D497-DACF-47BE-A52A-9D1050BB933B}"/>
              </a:ext>
            </a:extLst>
          </p:cNvPr>
          <p:cNvSpPr txBox="1"/>
          <p:nvPr userDrawn="1"/>
        </p:nvSpPr>
        <p:spPr>
          <a:xfrm>
            <a:off x="11479289" y="6125308"/>
            <a:ext cx="5363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442B1B3D-5896-48BC-8A16-EE3962E658B6}" type="slidenum">
              <a:rPr lang="es-PE" sz="1400" b="1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/>
              <a:t>‹Nº›</a:t>
            </a:fld>
            <a:endParaRPr lang="es-PE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ángulo 5"/>
          <p:cNvSpPr/>
          <p:nvPr userDrawn="1"/>
        </p:nvSpPr>
        <p:spPr>
          <a:xfrm>
            <a:off x="-14418" y="6083742"/>
            <a:ext cx="3159400" cy="753899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Rectángulo 8"/>
          <p:cNvSpPr/>
          <p:nvPr userDrawn="1"/>
        </p:nvSpPr>
        <p:spPr>
          <a:xfrm>
            <a:off x="-14418" y="6087207"/>
            <a:ext cx="3601918" cy="79200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9914710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estionario_Retroaliment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D7986BAC-D0E9-4BE0-98BF-694997E100A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18231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CDB3FA6B-2762-4486-9AB4-29D1878046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89892" y="606672"/>
            <a:ext cx="9246578" cy="670780"/>
          </a:xfrm>
        </p:spPr>
        <p:txBody>
          <a:bodyPr/>
          <a:lstStyle>
            <a:lvl1pPr>
              <a:defRPr lang="es-PE" sz="3000" b="1" kern="1200" dirty="0">
                <a:solidFill>
                  <a:srgbClr val="0070C0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lv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</a:pPr>
            <a:r>
              <a:rPr lang="es-ES" dirty="0"/>
              <a:t>Colocar título de cuestionario o retroalimentación</a:t>
            </a:r>
            <a:endParaRPr lang="es-PE" dirty="0"/>
          </a:p>
        </p:txBody>
      </p:sp>
      <p:sp>
        <p:nvSpPr>
          <p:cNvPr id="8" name="Subtítulo 2">
            <a:extLst>
              <a:ext uri="{FF2B5EF4-FFF2-40B4-BE49-F238E27FC236}">
                <a16:creationId xmlns:a16="http://schemas.microsoft.com/office/drawing/2014/main" id="{9689F7C0-A2F8-470B-94D7-F32128AEAE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863970" y="1664310"/>
            <a:ext cx="7904284" cy="595313"/>
          </a:xfrm>
        </p:spPr>
        <p:txBody>
          <a:bodyPr>
            <a:normAutofit/>
          </a:bodyPr>
          <a:lstStyle>
            <a:lvl1pPr marL="0" indent="0" algn="just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dirty="0"/>
              <a:t>Haga clic para describir la acción a desarrollar</a:t>
            </a:r>
            <a:endParaRPr lang="es-PE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2EF8596E-73FB-4FEA-A2CA-5567049721C4}"/>
              </a:ext>
            </a:extLst>
          </p:cNvPr>
          <p:cNvSpPr txBox="1"/>
          <p:nvPr userDrawn="1"/>
        </p:nvSpPr>
        <p:spPr>
          <a:xfrm>
            <a:off x="11509769" y="6132928"/>
            <a:ext cx="5363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442B1B3D-5896-48BC-8A16-EE3962E658B6}" type="slidenum">
              <a:rPr lang="es-PE" sz="1400" b="1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/>
              <a:t>‹Nº›</a:t>
            </a:fld>
            <a:endParaRPr lang="es-PE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ángulo 5"/>
          <p:cNvSpPr/>
          <p:nvPr userDrawn="1"/>
        </p:nvSpPr>
        <p:spPr>
          <a:xfrm>
            <a:off x="-14418" y="6331527"/>
            <a:ext cx="3103982" cy="54768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843862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dir="r" isContent="1" isInverted="1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radecimie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0A2DA58-7181-4AC8-9AAA-468C6B0BCA4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225486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5BB78CEA-B88D-4B10-8712-B5BCAB624E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07477" y="527538"/>
            <a:ext cx="8393723" cy="659423"/>
          </a:xfrm>
        </p:spPr>
        <p:txBody>
          <a:bodyPr/>
          <a:lstStyle>
            <a:lvl1pPr>
              <a:defRPr lang="es-PE" sz="3000" b="1" kern="1200" dirty="0">
                <a:solidFill>
                  <a:srgbClr val="0070C0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lv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</a:pPr>
            <a:r>
              <a:rPr lang="es-ES" dirty="0"/>
              <a:t>Haga clic para modificar el agradecimiento </a:t>
            </a:r>
            <a:endParaRPr lang="es-PE" dirty="0"/>
          </a:p>
        </p:txBody>
      </p:sp>
      <p:sp>
        <p:nvSpPr>
          <p:cNvPr id="8" name="Subtítulo 2">
            <a:extLst>
              <a:ext uri="{FF2B5EF4-FFF2-40B4-BE49-F238E27FC236}">
                <a16:creationId xmlns:a16="http://schemas.microsoft.com/office/drawing/2014/main" id="{24DFD9D3-3821-41CE-9B73-BD303142469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863970" y="1664310"/>
            <a:ext cx="5653453" cy="595313"/>
          </a:xfrm>
        </p:spPr>
        <p:txBody>
          <a:bodyPr>
            <a:noAutofit/>
          </a:bodyPr>
          <a:lstStyle>
            <a:lvl1pPr marL="0" indent="0" algn="just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dirty="0"/>
              <a:t>Haga clic para describir la acción a desarrollar</a:t>
            </a:r>
            <a:endParaRPr lang="es-PE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899543E9-0934-4B60-ACE8-97D14160BAD7}"/>
              </a:ext>
            </a:extLst>
          </p:cNvPr>
          <p:cNvSpPr txBox="1"/>
          <p:nvPr userDrawn="1"/>
        </p:nvSpPr>
        <p:spPr>
          <a:xfrm>
            <a:off x="11509769" y="6132928"/>
            <a:ext cx="5363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442B1B3D-5896-48BC-8A16-EE3962E658B6}" type="slidenum">
              <a:rPr lang="es-PE" sz="1400" b="1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/>
              <a:t>‹Nº›</a:t>
            </a:fld>
            <a:endParaRPr lang="es-PE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ángulo 5"/>
          <p:cNvSpPr/>
          <p:nvPr userDrawn="1"/>
        </p:nvSpPr>
        <p:spPr>
          <a:xfrm>
            <a:off x="-14419" y="6331527"/>
            <a:ext cx="3602745" cy="547680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996776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conveyor dir="r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>
            <a:extLst>
              <a:ext uri="{FF2B5EF4-FFF2-40B4-BE49-F238E27FC236}">
                <a16:creationId xmlns:a16="http://schemas.microsoft.com/office/drawing/2014/main" id="{F4327408-CE50-4AFA-B253-0B4AD7B8EF3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C5D72DE8-D858-4B5C-B8B0-D879F78C21A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0667" y="1455161"/>
            <a:ext cx="5030666" cy="4126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5319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992AF98-1775-49AF-B7CA-2B59F0494F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05506D8-FE8E-4103-B5D2-C4A7ACDE57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52D7C18-6600-48BB-B199-BCE7ADADB6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6835985-6D91-45E4-A504-90DE7D1423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s-PE"/>
              <a:t>www.senati.edu.pe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44EEC8A-71B5-41BE-ABB0-AE10AF551F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9205DF-B509-4290-A4C8-699A8AB7FA49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647578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67" r:id="rId4"/>
    <p:sldLayoutId id="2147483661" r:id="rId5"/>
    <p:sldLayoutId id="2147483663" r:id="rId6"/>
    <p:sldLayoutId id="2147483664" r:id="rId7"/>
    <p:sldLayoutId id="2147483665" r:id="rId8"/>
    <p:sldLayoutId id="2147483666" r:id="rId9"/>
    <p:sldLayoutId id="2147483662" r:id="rId10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63C0E9-F00C-4593-9667-050105818A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36970" y="4824137"/>
            <a:ext cx="10811608" cy="830998"/>
          </a:xfrm>
        </p:spPr>
        <p:txBody>
          <a:bodyPr>
            <a:noAutofit/>
          </a:bodyPr>
          <a:lstStyle/>
          <a:p>
            <a:pPr algn="ctr"/>
            <a:r>
              <a:rPr lang="es-MX" sz="2000" dirty="0">
                <a:solidFill>
                  <a:srgbClr val="0070C0"/>
                </a:solidFill>
              </a:rPr>
              <a:t>Sistema LMS Inteligente Integrado con ERP para la optimización de la gestión académica en la empresa </a:t>
            </a:r>
            <a:r>
              <a:rPr lang="es-MX" sz="2000" dirty="0" err="1">
                <a:solidFill>
                  <a:srgbClr val="0070C0"/>
                </a:solidFill>
              </a:rPr>
              <a:t>Systematic</a:t>
            </a:r>
            <a:r>
              <a:rPr lang="es-MX" sz="2000" dirty="0">
                <a:solidFill>
                  <a:srgbClr val="0070C0"/>
                </a:solidFill>
              </a:rPr>
              <a:t>.</a:t>
            </a:r>
            <a:endParaRPr lang="es-PE" sz="2000" dirty="0">
              <a:solidFill>
                <a:srgbClr val="0070C0"/>
              </a:solidFill>
              <a:latin typeface="Arial Black" panose="020B0A040201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A688A85A-073D-2F1E-6116-AE8549F1DBAC}"/>
              </a:ext>
            </a:extLst>
          </p:cNvPr>
          <p:cNvSpPr txBox="1"/>
          <p:nvPr/>
        </p:nvSpPr>
        <p:spPr>
          <a:xfrm>
            <a:off x="614563" y="5681799"/>
            <a:ext cx="548143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PE" b="1" dirty="0"/>
              <a:t>Autores:</a:t>
            </a:r>
          </a:p>
          <a:p>
            <a:r>
              <a:rPr lang="es-PE" dirty="0"/>
              <a:t>Apolaya Mendoza Carlos David</a:t>
            </a:r>
          </a:p>
          <a:p>
            <a:r>
              <a:rPr lang="es-PE" dirty="0"/>
              <a:t>Salas Vásquez Fabián Alonzo </a:t>
            </a:r>
          </a:p>
          <a:p>
            <a:r>
              <a:rPr lang="es-PE" dirty="0"/>
              <a:t>Palacios Gonzales Leonardo Alexander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A08E586E-BA1E-9DD5-E12D-F8F94B6E63E3}"/>
              </a:ext>
            </a:extLst>
          </p:cNvPr>
          <p:cNvSpPr txBox="1"/>
          <p:nvPr/>
        </p:nvSpPr>
        <p:spPr>
          <a:xfrm>
            <a:off x="6096000" y="6119708"/>
            <a:ext cx="54814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b="1" dirty="0"/>
              <a:t>Carrera: </a:t>
            </a:r>
            <a:r>
              <a:rPr lang="es-PE" dirty="0"/>
              <a:t>Ingeniería de Software con Inteligencia Artificial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5E8DFFAC-DDFC-3ED1-1B2F-A5BABD22BD7B}"/>
              </a:ext>
            </a:extLst>
          </p:cNvPr>
          <p:cNvSpPr txBox="1"/>
          <p:nvPr/>
        </p:nvSpPr>
        <p:spPr>
          <a:xfrm>
            <a:off x="6096000" y="5681799"/>
            <a:ext cx="42996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b="1" dirty="0"/>
              <a:t>Asesor: </a:t>
            </a:r>
            <a:r>
              <a:rPr lang="es-PE" dirty="0"/>
              <a:t>Ing. Richard Jhonson Barrios Quispe</a:t>
            </a:r>
          </a:p>
          <a:p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504259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1">
            <a:extLst>
              <a:ext uri="{FF2B5EF4-FFF2-40B4-BE49-F238E27FC236}">
                <a16:creationId xmlns:a16="http://schemas.microsoft.com/office/drawing/2014/main" id="{8B7BA285-4E0C-4E0C-923D-7A3051E80FAF}"/>
              </a:ext>
            </a:extLst>
          </p:cNvPr>
          <p:cNvSpPr txBox="1">
            <a:spLocks/>
          </p:cNvSpPr>
          <p:nvPr/>
        </p:nvSpPr>
        <p:spPr>
          <a:xfrm>
            <a:off x="1277814" y="580292"/>
            <a:ext cx="8481648" cy="5027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s-PE" sz="3000" b="1" kern="1200">
                <a:solidFill>
                  <a:srgbClr val="0070C0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algn="ctr"/>
            <a:r>
              <a:rPr lang="es-PE" sz="27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EMPRESA:  SYSTEMATIC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E4B55470-8E75-1D69-2BA5-D8660AFEE2AF}"/>
              </a:ext>
            </a:extLst>
          </p:cNvPr>
          <p:cNvSpPr txBox="1"/>
          <p:nvPr/>
        </p:nvSpPr>
        <p:spPr>
          <a:xfrm>
            <a:off x="1277814" y="1572648"/>
            <a:ext cx="9925685" cy="48479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600" b="1" dirty="0">
                <a:latin typeface="Arial" panose="020B0604020202020204" pitchFamily="34" charset="0"/>
                <a:cs typeface="Arial" panose="020B0604020202020204" pitchFamily="34" charset="0"/>
              </a:rPr>
              <a:t>Razón Social: </a:t>
            </a:r>
            <a:r>
              <a:rPr lang="es-419" sz="1600" dirty="0" err="1">
                <a:latin typeface="Arial" panose="020B0604020202020204" pitchFamily="34" charset="0"/>
                <a:cs typeface="Arial" panose="020B0604020202020204" pitchFamily="34" charset="0"/>
              </a:rPr>
              <a:t>Systematic</a:t>
            </a:r>
            <a:endParaRPr lang="es-419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600" b="1" dirty="0">
                <a:latin typeface="Arial" panose="020B0604020202020204" pitchFamily="34" charset="0"/>
                <a:cs typeface="Arial" panose="020B0604020202020204" pitchFamily="34" charset="0"/>
              </a:rPr>
              <a:t>RUC: </a:t>
            </a:r>
            <a:r>
              <a:rPr lang="es-419" sz="1600" dirty="0">
                <a:latin typeface="Arial" panose="020B0604020202020204" pitchFamily="34" charset="0"/>
                <a:cs typeface="Arial" panose="020B0604020202020204" pitchFamily="34" charset="0"/>
              </a:rPr>
              <a:t>20610737448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600" b="1" dirty="0">
                <a:latin typeface="Arial" panose="020B0604020202020204" pitchFamily="34" charset="0"/>
                <a:cs typeface="Arial" panose="020B0604020202020204" pitchFamily="34" charset="0"/>
              </a:rPr>
              <a:t>Representante Legal: </a:t>
            </a:r>
            <a:r>
              <a:rPr lang="es-419" sz="1600" dirty="0" err="1">
                <a:latin typeface="Arial" panose="020B0604020202020204" pitchFamily="34" charset="0"/>
                <a:cs typeface="Arial" panose="020B0604020202020204" pitchFamily="34" charset="0"/>
              </a:rPr>
              <a:t>Hamano</a:t>
            </a:r>
            <a:r>
              <a:rPr lang="es-419" sz="1600" dirty="0">
                <a:latin typeface="Arial" panose="020B0604020202020204" pitchFamily="34" charset="0"/>
                <a:cs typeface="Arial" panose="020B0604020202020204" pitchFamily="34" charset="0"/>
              </a:rPr>
              <a:t> Valdiviezo Takeshi Paulo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600" b="1" dirty="0">
                <a:latin typeface="Arial" panose="020B0604020202020204" pitchFamily="34" charset="0"/>
                <a:cs typeface="Arial" panose="020B0604020202020204" pitchFamily="34" charset="0"/>
              </a:rPr>
              <a:t>Email: </a:t>
            </a:r>
            <a:r>
              <a:rPr lang="es-419" sz="1600" dirty="0">
                <a:latin typeface="Arial" panose="020B0604020202020204" pitchFamily="34" charset="0"/>
                <a:cs typeface="Arial" panose="020B0604020202020204" pitchFamily="34" charset="0"/>
              </a:rPr>
              <a:t>tek.informatic@gmail.com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600" b="1" dirty="0">
                <a:latin typeface="Arial" panose="020B0604020202020204" pitchFamily="34" charset="0"/>
                <a:cs typeface="Arial" panose="020B0604020202020204" pitchFamily="34" charset="0"/>
              </a:rPr>
              <a:t>Actividad Económica: </a:t>
            </a:r>
            <a:r>
              <a:rPr lang="es-419" sz="1600" dirty="0">
                <a:latin typeface="Arial" panose="020B0604020202020204" pitchFamily="34" charset="0"/>
                <a:cs typeface="Arial" panose="020B0604020202020204" pitchFamily="34" charset="0"/>
              </a:rPr>
              <a:t>Principal - 8549 - OTROS TIPOS DE ENSEÑANZA N.C.P. Secundaria 1 - 6202 - CONSULTORÍA DE INFORMÁTICA Y GESTIÓN DE INSTALACIONES INFORMÁTICAS Secundaria 2 - 4741 - VENTA AL POR MENOR DE ORDENADORES, EQUIPO PERIFÉRICO, PROGRAMA DE INFORM. Y EQU. DE TELEC. EN COMERCIOS ESPECIALIZADOS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600" b="1" dirty="0">
                <a:latin typeface="Arial" panose="020B0604020202020204" pitchFamily="34" charset="0"/>
                <a:cs typeface="Arial" panose="020B0604020202020204" pitchFamily="34" charset="0"/>
              </a:rPr>
              <a:t>Teléfono: </a:t>
            </a:r>
            <a:r>
              <a:rPr lang="es-419" sz="1600" dirty="0">
                <a:latin typeface="Arial" panose="020B0604020202020204" pitchFamily="34" charset="0"/>
                <a:cs typeface="Arial" panose="020B0604020202020204" pitchFamily="34" charset="0"/>
              </a:rPr>
              <a:t>+51 983 776 067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600" b="1" dirty="0">
                <a:latin typeface="Arial" panose="020B0604020202020204" pitchFamily="34" charset="0"/>
                <a:cs typeface="Arial" panose="020B0604020202020204" pitchFamily="34" charset="0"/>
              </a:rPr>
              <a:t>Dirección: </a:t>
            </a:r>
            <a:r>
              <a:rPr lang="es-419" sz="1600" dirty="0">
                <a:latin typeface="Arial" panose="020B0604020202020204" pitchFamily="34" charset="0"/>
                <a:cs typeface="Arial" panose="020B0604020202020204" pitchFamily="34" charset="0"/>
              </a:rPr>
              <a:t>Calle Lima 219, Chincha Alta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s-419" sz="1600" b="1" dirty="0">
                <a:latin typeface="Arial" panose="020B0604020202020204" pitchFamily="34" charset="0"/>
                <a:cs typeface="Arial" panose="020B0604020202020204" pitchFamily="34" charset="0"/>
              </a:rPr>
              <a:t>Clientes: </a:t>
            </a:r>
            <a:r>
              <a:rPr lang="es-419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Jóvenes y adultos que buscan aprender habilidades técnicas y especializarse para mejorar sus oportunidades laborales.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s-PE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19164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F6AC60B3-9970-4DE5-8D20-589A250AF72D}"/>
              </a:ext>
            </a:extLst>
          </p:cNvPr>
          <p:cNvSpPr txBox="1">
            <a:spLocks/>
          </p:cNvSpPr>
          <p:nvPr/>
        </p:nvSpPr>
        <p:spPr>
          <a:xfrm>
            <a:off x="1277814" y="580292"/>
            <a:ext cx="8481648" cy="5027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s-PE" sz="3000" b="1" kern="1200">
                <a:solidFill>
                  <a:srgbClr val="0070C0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algn="ctr"/>
            <a:r>
              <a:rPr lang="es-PE" sz="27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PROBLEMÁTICA IDENTIFICADO</a:t>
            </a:r>
          </a:p>
        </p:txBody>
      </p:sp>
      <p:sp>
        <p:nvSpPr>
          <p:cNvPr id="2" name="Marcador de contenido 1">
            <a:extLst>
              <a:ext uri="{FF2B5EF4-FFF2-40B4-BE49-F238E27FC236}">
                <a16:creationId xmlns:a16="http://schemas.microsoft.com/office/drawing/2014/main" id="{4ABE1AE6-E4AE-6DAF-61F8-D470FFA39A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7814" y="1737023"/>
            <a:ext cx="9981589" cy="3828122"/>
          </a:xfrm>
        </p:spPr>
        <p:txBody>
          <a:bodyPr>
            <a:normAutofit/>
          </a:bodyPr>
          <a:lstStyle/>
          <a:p>
            <a:pPr algn="just"/>
            <a:r>
              <a:rPr lang="es-ES" sz="1900" dirty="0"/>
              <a:t>La Falta de un sistema de gestión de clientes ocasiona:</a:t>
            </a:r>
          </a:p>
          <a:p>
            <a:pPr algn="just"/>
            <a:r>
              <a:rPr lang="es-MX" sz="1900" dirty="0"/>
              <a:t>Información académica dispersa en distintas herramientas.</a:t>
            </a:r>
          </a:p>
          <a:p>
            <a:pPr algn="just"/>
            <a:r>
              <a:rPr lang="es-ES" sz="1900" dirty="0"/>
              <a:t>Procesos académicos parcialmente manuales.</a:t>
            </a:r>
          </a:p>
          <a:p>
            <a:pPr algn="just"/>
            <a:r>
              <a:rPr lang="es-MX" sz="1900" dirty="0"/>
              <a:t>Dificultad para realizar seguimiento del progreso estudiantil</a:t>
            </a:r>
            <a:endParaRPr lang="es-ES" sz="1900" dirty="0"/>
          </a:p>
          <a:p>
            <a:pPr algn="just"/>
            <a:r>
              <a:rPr lang="es-MX" sz="1900" dirty="0"/>
              <a:t>Mayor tiempo para elaborar reportes académico</a:t>
            </a:r>
            <a:r>
              <a:rPr lang="es-ES" sz="1900" dirty="0"/>
              <a:t>.</a:t>
            </a:r>
          </a:p>
          <a:p>
            <a:pPr algn="just"/>
            <a:r>
              <a:rPr lang="es-MX" sz="1900" dirty="0"/>
              <a:t>Limitaciones para automatizar asistencia, evaluaciones y certificaciones</a:t>
            </a:r>
            <a:r>
              <a:rPr lang="es-ES" sz="1900" dirty="0"/>
              <a:t>.</a:t>
            </a:r>
          </a:p>
          <a:p>
            <a:pPr algn="just"/>
            <a:r>
              <a:rPr lang="es-MX" sz="1900" dirty="0"/>
              <a:t>Dificultad para escalar los servicios educativos ante el crecimiento institucional.</a:t>
            </a:r>
            <a:endParaRPr lang="es-ES" sz="1900" dirty="0"/>
          </a:p>
          <a:p>
            <a:pPr algn="just"/>
            <a:endParaRPr lang="es-MX" sz="1900" dirty="0"/>
          </a:p>
        </p:txBody>
      </p:sp>
    </p:spTree>
    <p:extLst>
      <p:ext uri="{BB962C8B-B14F-4D97-AF65-F5344CB8AC3E}">
        <p14:creationId xmlns:p14="http://schemas.microsoft.com/office/powerpoint/2010/main" val="20117179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6D4FE-705B-821E-FBB5-FEDDE44FE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8D570501-D886-EB57-1D7C-69F4CB234DF0}"/>
              </a:ext>
            </a:extLst>
          </p:cNvPr>
          <p:cNvSpPr txBox="1">
            <a:spLocks/>
          </p:cNvSpPr>
          <p:nvPr/>
        </p:nvSpPr>
        <p:spPr>
          <a:xfrm>
            <a:off x="1277814" y="580292"/>
            <a:ext cx="8481648" cy="5027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s-PE" sz="3000" b="1" kern="1200">
                <a:solidFill>
                  <a:srgbClr val="0070C0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algn="ctr"/>
            <a:r>
              <a:rPr lang="es-PE" dirty="0"/>
              <a:t> Análisis del problema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94303E6-1C8F-47A9-BF8B-A10FC28EA855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7523" y="1495093"/>
            <a:ext cx="7936489" cy="453370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9088938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4F005417-82E5-44FA-B0A2-BBD5A28776FA}"/>
              </a:ext>
            </a:extLst>
          </p:cNvPr>
          <p:cNvSpPr txBox="1">
            <a:spLocks/>
          </p:cNvSpPr>
          <p:nvPr/>
        </p:nvSpPr>
        <p:spPr>
          <a:xfrm>
            <a:off x="1277814" y="580292"/>
            <a:ext cx="8481648" cy="5027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s-PE" sz="3000" b="1" kern="1200">
                <a:solidFill>
                  <a:srgbClr val="0070C0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>
              <a:spcAft>
                <a:spcPts val="600"/>
              </a:spcAft>
            </a:pPr>
            <a:r>
              <a:rPr lang="en-US" sz="2800" b="1" kern="12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OBJETIVOS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B3676AC2-455B-C416-5ABC-F3F4F121764A}"/>
              </a:ext>
            </a:extLst>
          </p:cNvPr>
          <p:cNvSpPr txBox="1"/>
          <p:nvPr/>
        </p:nvSpPr>
        <p:spPr>
          <a:xfrm>
            <a:off x="742666" y="1579965"/>
            <a:ext cx="10352964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/>
          <a:p>
            <a:pPr marL="228600" indent="-228600" algn="just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900" b="1" kern="1200" dirty="0" err="1">
                <a:latin typeface="Arial" panose="020B0604020202020204" pitchFamily="34" charset="0"/>
                <a:cs typeface="Arial" panose="020B0604020202020204" pitchFamily="34" charset="0"/>
              </a:rPr>
              <a:t>Objetivo</a:t>
            </a:r>
            <a:r>
              <a:rPr lang="en-US" sz="1900" b="1" kern="1200" dirty="0">
                <a:latin typeface="Arial" panose="020B0604020202020204" pitchFamily="34" charset="0"/>
                <a:cs typeface="Arial" panose="020B0604020202020204" pitchFamily="34" charset="0"/>
              </a:rPr>
              <a:t> general:</a:t>
            </a:r>
          </a:p>
          <a:p>
            <a:pPr marL="228600" indent="-228600" algn="just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sz="1900" b="1" kern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28600" indent="-228600" algn="just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s-MX" sz="1900" kern="1200" dirty="0">
                <a:latin typeface="Arial" panose="020B0604020202020204" pitchFamily="34" charset="0"/>
                <a:cs typeface="Arial" panose="020B0604020202020204" pitchFamily="34" charset="0"/>
              </a:rPr>
              <a:t>Desarrollar e implementar un sistema LMS inteligente para la empresa </a:t>
            </a:r>
            <a:r>
              <a:rPr lang="es-MX" sz="1900" kern="1200" dirty="0" err="1">
                <a:latin typeface="Arial" panose="020B0604020202020204" pitchFamily="34" charset="0"/>
                <a:cs typeface="Arial" panose="020B0604020202020204" pitchFamily="34" charset="0"/>
              </a:rPr>
              <a:t>Systematic</a:t>
            </a:r>
            <a:r>
              <a:rPr lang="es-MX" sz="1900" kern="1200" dirty="0">
                <a:latin typeface="Arial" panose="020B0604020202020204" pitchFamily="34" charset="0"/>
                <a:cs typeface="Arial" panose="020B0604020202020204" pitchFamily="34" charset="0"/>
              </a:rPr>
              <a:t> que permita centralizar la gestión académica, optimizar los procesos de enseñanza y aprendizaje, integrar la información institucional y contribuir a la preparación tecnológica de la organización frente a futuras necesidades de crecimiento</a:t>
            </a:r>
            <a:r>
              <a:rPr lang="en-US" sz="1900" kern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28600" indent="-228600" algn="just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sz="1900" kern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28600" indent="-228600" algn="just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900" b="1" kern="1200" dirty="0">
                <a:latin typeface="Arial" panose="020B0604020202020204" pitchFamily="34" charset="0"/>
                <a:cs typeface="Arial" panose="020B0604020202020204" pitchFamily="34" charset="0"/>
              </a:rPr>
              <a:t>Objetivos </a:t>
            </a:r>
            <a:r>
              <a:rPr lang="en-US" sz="1900" b="1" kern="1200" dirty="0" err="1">
                <a:latin typeface="Arial" panose="020B0604020202020204" pitchFamily="34" charset="0"/>
                <a:cs typeface="Arial" panose="020B0604020202020204" pitchFamily="34" charset="0"/>
              </a:rPr>
              <a:t>específicos</a:t>
            </a:r>
            <a:r>
              <a:rPr lang="en-US" sz="1900" b="1" kern="12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228600" indent="-228600" algn="just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sz="1900" b="1" kern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28600" indent="-228600" algn="just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s-MX" sz="1900" kern="1200" dirty="0">
                <a:latin typeface="Arial" panose="020B0604020202020204" pitchFamily="34" charset="0"/>
                <a:cs typeface="Arial" panose="020B0604020202020204" pitchFamily="34" charset="0"/>
              </a:rPr>
              <a:t>Centralizar cursos, docentes y estudiantes.</a:t>
            </a:r>
            <a:endParaRPr lang="en-US" sz="1900" kern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28600" indent="-228600" algn="just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s-MX" sz="1900" kern="1200" dirty="0">
                <a:latin typeface="Arial" panose="020B0604020202020204" pitchFamily="34" charset="0"/>
                <a:cs typeface="Arial" panose="020B0604020202020204" pitchFamily="34" charset="0"/>
              </a:rPr>
              <a:t>Automatizar asistencia</a:t>
            </a:r>
            <a:r>
              <a:rPr lang="es-MX" sz="1900" dirty="0">
                <a:latin typeface="Arial" panose="020B0604020202020204" pitchFamily="34" charset="0"/>
                <a:cs typeface="Arial" panose="020B0604020202020204" pitchFamily="34" charset="0"/>
              </a:rPr>
              <a:t> y</a:t>
            </a:r>
            <a:r>
              <a:rPr lang="es-MX" sz="1900" kern="1200" dirty="0">
                <a:latin typeface="Arial" panose="020B0604020202020204" pitchFamily="34" charset="0"/>
                <a:cs typeface="Arial" panose="020B0604020202020204" pitchFamily="34" charset="0"/>
              </a:rPr>
              <a:t> evaluaciones</a:t>
            </a:r>
            <a:r>
              <a:rPr lang="es-ES" sz="1900" kern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28600" indent="-228600" algn="just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s-MX" sz="1900" kern="1200" dirty="0">
                <a:latin typeface="Arial" panose="020B0604020202020204" pitchFamily="34" charset="0"/>
                <a:cs typeface="Arial" panose="020B0604020202020204" pitchFamily="34" charset="0"/>
              </a:rPr>
              <a:t>Generar reportes académicos en tiempo real</a:t>
            </a:r>
            <a:r>
              <a:rPr lang="en-US" sz="1900" kern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28600" indent="-228600" algn="just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900" kern="1200" dirty="0" err="1">
                <a:latin typeface="Arial" panose="020B0604020202020204" pitchFamily="34" charset="0"/>
                <a:cs typeface="Arial" panose="020B0604020202020204" pitchFamily="34" charset="0"/>
              </a:rPr>
              <a:t>Incorporar</a:t>
            </a:r>
            <a:r>
              <a:rPr lang="en-US" sz="1900" kern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900" kern="1200" dirty="0" err="1">
                <a:latin typeface="Arial" panose="020B0604020202020204" pitchFamily="34" charset="0"/>
                <a:cs typeface="Arial" panose="020B0604020202020204" pitchFamily="34" charset="0"/>
              </a:rPr>
              <a:t>analítica</a:t>
            </a:r>
            <a:r>
              <a:rPr lang="en-US" sz="1900" kern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900" kern="1200" dirty="0" err="1">
                <a:latin typeface="Arial" panose="020B0604020202020204" pitchFamily="34" charset="0"/>
                <a:cs typeface="Arial" panose="020B0604020202020204" pitchFamily="34" charset="0"/>
              </a:rPr>
              <a:t>académica</a:t>
            </a:r>
            <a:r>
              <a:rPr lang="en-US" sz="1900" kern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28600" indent="-228600" algn="just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s-MX" sz="1900" kern="1200" dirty="0">
                <a:latin typeface="Arial" panose="020B0604020202020204" pitchFamily="34" charset="0"/>
                <a:cs typeface="Arial" panose="020B0604020202020204" pitchFamily="34" charset="0"/>
              </a:rPr>
              <a:t>Mejorar la accesibilidad y organización de contenidos educativos.</a:t>
            </a:r>
            <a:endParaRPr lang="en-US" sz="1900" kern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07844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0F101DDB-50A1-4189-B807-5EB4DFE954C3}"/>
              </a:ext>
            </a:extLst>
          </p:cNvPr>
          <p:cNvSpPr txBox="1">
            <a:spLocks/>
          </p:cNvSpPr>
          <p:nvPr/>
        </p:nvSpPr>
        <p:spPr>
          <a:xfrm>
            <a:off x="1277814" y="580292"/>
            <a:ext cx="8481648" cy="50275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s-PE" sz="3000" b="1" kern="1200">
                <a:solidFill>
                  <a:srgbClr val="0070C0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algn="ctr"/>
            <a:r>
              <a:rPr lang="es-PE" dirty="0"/>
              <a:t>Módulos principales del sistema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9197E518-B737-37DB-4D2B-040EC3A578B9}"/>
              </a:ext>
            </a:extLst>
          </p:cNvPr>
          <p:cNvSpPr txBox="1"/>
          <p:nvPr/>
        </p:nvSpPr>
        <p:spPr>
          <a:xfrm>
            <a:off x="2023024" y="1583785"/>
            <a:ext cx="10795379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b="1" dirty="0">
                <a:latin typeface="Arial" panose="020B0604020202020204" pitchFamily="34" charset="0"/>
                <a:cs typeface="Arial" panose="020B0604020202020204" pitchFamily="34" charset="0"/>
              </a:rPr>
              <a:t>Gestión de usuarios y roles</a:t>
            </a:r>
            <a:endParaRPr lang="es-E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latin typeface="Arial" panose="020B0604020202020204" pitchFamily="34" charset="0"/>
                <a:cs typeface="Arial" panose="020B0604020202020204" pitchFamily="34" charset="0"/>
              </a:rPr>
              <a:t>Autenticación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latin typeface="Arial" panose="020B0604020202020204" pitchFamily="34" charset="0"/>
                <a:cs typeface="Arial" panose="020B0604020202020204" pitchFamily="34" charset="0"/>
              </a:rPr>
              <a:t>Roles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latin typeface="Arial" panose="020B0604020202020204" pitchFamily="34" charset="0"/>
                <a:cs typeface="Arial" panose="020B0604020202020204" pitchFamily="34" charset="0"/>
              </a:rPr>
              <a:t>Permisos.</a:t>
            </a:r>
          </a:p>
          <a:p>
            <a:r>
              <a:rPr lang="es-ES" b="1" dirty="0">
                <a:latin typeface="Arial" panose="020B0604020202020204" pitchFamily="34" charset="0"/>
                <a:cs typeface="Arial" panose="020B0604020202020204" pitchFamily="34" charset="0"/>
              </a:rPr>
              <a:t>Cursos y capacitaciones </a:t>
            </a:r>
            <a:endParaRPr lang="es-E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latin typeface="Arial" panose="020B0604020202020204" pitchFamily="34" charset="0"/>
                <a:cs typeface="Arial" panose="020B0604020202020204" pitchFamily="34" charset="0"/>
              </a:rPr>
              <a:t>Creación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latin typeface="Arial" panose="020B0604020202020204" pitchFamily="34" charset="0"/>
                <a:cs typeface="Arial" panose="020B0604020202020204" pitchFamily="34" charset="0"/>
              </a:rPr>
              <a:t>Administración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latin typeface="Arial" panose="020B0604020202020204" pitchFamily="34" charset="0"/>
                <a:cs typeface="Arial" panose="020B0604020202020204" pitchFamily="34" charset="0"/>
              </a:rPr>
              <a:t>Seguimiento</a:t>
            </a:r>
          </a:p>
          <a:p>
            <a:r>
              <a:rPr lang="es-ES" b="1" dirty="0">
                <a:latin typeface="Arial" panose="020B0604020202020204" pitchFamily="34" charset="0"/>
                <a:cs typeface="Arial" panose="020B0604020202020204" pitchFamily="34" charset="0"/>
              </a:rPr>
              <a:t>Evaluaciones</a:t>
            </a:r>
            <a:endParaRPr lang="es-E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latin typeface="Arial" panose="020B0604020202020204" pitchFamily="34" charset="0"/>
                <a:cs typeface="Arial" panose="020B0604020202020204" pitchFamily="34" charset="0"/>
              </a:rPr>
              <a:t>Exámenes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latin typeface="Arial" panose="020B0604020202020204" pitchFamily="34" charset="0"/>
                <a:cs typeface="Arial" panose="020B0604020202020204" pitchFamily="34" charset="0"/>
              </a:rPr>
              <a:t>Preguntas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latin typeface="Arial" panose="020B0604020202020204" pitchFamily="34" charset="0"/>
                <a:cs typeface="Arial" panose="020B0604020202020204" pitchFamily="34" charset="0"/>
              </a:rPr>
              <a:t>Resultados</a:t>
            </a:r>
          </a:p>
          <a:p>
            <a:r>
              <a:rPr lang="es-ES" b="1" dirty="0">
                <a:latin typeface="Arial" panose="020B0604020202020204" pitchFamily="34" charset="0"/>
                <a:cs typeface="Arial" panose="020B0604020202020204" pitchFamily="34" charset="0"/>
              </a:rPr>
              <a:t>Asistencia</a:t>
            </a:r>
            <a:endParaRPr lang="es-E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latin typeface="Arial" panose="020B0604020202020204" pitchFamily="34" charset="0"/>
                <a:cs typeface="Arial" panose="020B0604020202020204" pitchFamily="34" charset="0"/>
              </a:rPr>
              <a:t>Registro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latin typeface="Arial" panose="020B0604020202020204" pitchFamily="34" charset="0"/>
                <a:cs typeface="Arial" panose="020B0604020202020204" pitchFamily="34" charset="0"/>
              </a:rPr>
              <a:t>Seguimiento</a:t>
            </a:r>
          </a:p>
        </p:txBody>
      </p:sp>
    </p:spTree>
    <p:extLst>
      <p:ext uri="{BB962C8B-B14F-4D97-AF65-F5344CB8AC3E}">
        <p14:creationId xmlns:p14="http://schemas.microsoft.com/office/powerpoint/2010/main" val="7549327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1">
            <a:extLst>
              <a:ext uri="{FF2B5EF4-FFF2-40B4-BE49-F238E27FC236}">
                <a16:creationId xmlns:a16="http://schemas.microsoft.com/office/drawing/2014/main" id="{B9C658E0-1E74-4CEB-920B-3AC250949875}"/>
              </a:ext>
            </a:extLst>
          </p:cNvPr>
          <p:cNvSpPr txBox="1">
            <a:spLocks/>
          </p:cNvSpPr>
          <p:nvPr/>
        </p:nvSpPr>
        <p:spPr>
          <a:xfrm>
            <a:off x="1277814" y="580292"/>
            <a:ext cx="8481648" cy="5027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s-PE" sz="3000" b="1" kern="1200">
                <a:solidFill>
                  <a:srgbClr val="0070C0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algn="ctr"/>
            <a:r>
              <a:rPr lang="es-PE" sz="27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Tecnologías Utilizadas.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B1E0700D-A018-14BA-5BD4-395D06459CAD}"/>
              </a:ext>
            </a:extLst>
          </p:cNvPr>
          <p:cNvSpPr txBox="1"/>
          <p:nvPr/>
        </p:nvSpPr>
        <p:spPr>
          <a:xfrm>
            <a:off x="2440761" y="1711187"/>
            <a:ext cx="848164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Frontend: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PE" dirty="0"/>
              <a:t>Blade</a:t>
            </a:r>
            <a:endParaRPr lang="es-PE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PE" dirty="0" err="1"/>
              <a:t>Tailwind</a:t>
            </a:r>
            <a:r>
              <a:rPr lang="es-PE" dirty="0"/>
              <a:t> CSS</a:t>
            </a:r>
            <a:endParaRPr lang="es-PE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PE" b="1" dirty="0" err="1">
                <a:latin typeface="Arial" panose="020B0604020202020204" pitchFamily="34" charset="0"/>
                <a:cs typeface="Arial" panose="020B0604020202020204" pitchFamily="34" charset="0"/>
              </a:rPr>
              <a:t>Backend</a:t>
            </a:r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PE" dirty="0">
                <a:latin typeface="Arial" panose="020B0604020202020204" pitchFamily="34" charset="0"/>
                <a:cs typeface="Arial" panose="020B0604020202020204" pitchFamily="34" charset="0"/>
              </a:rPr>
              <a:t>PHP 8.1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PE" dirty="0">
                <a:latin typeface="Arial" panose="020B0604020202020204" pitchFamily="34" charset="0"/>
                <a:cs typeface="Arial" panose="020B0604020202020204" pitchFamily="34" charset="0"/>
              </a:rPr>
              <a:t>MySQL 8.0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PE" dirty="0"/>
              <a:t>Laravel 12</a:t>
            </a:r>
            <a:endParaRPr lang="es-PE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Herramientas: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PE" dirty="0">
                <a:latin typeface="Arial" panose="020B0604020202020204" pitchFamily="34" charset="0"/>
                <a:cs typeface="Arial" panose="020B0604020202020204" pitchFamily="34" charset="0"/>
              </a:rPr>
              <a:t>Git para control de versiones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PE" dirty="0">
                <a:latin typeface="Arial" panose="020B0604020202020204" pitchFamily="34" charset="0"/>
                <a:cs typeface="Arial" panose="020B0604020202020204" pitchFamily="34" charset="0"/>
              </a:rPr>
              <a:t>XAMPP como entorno local</a:t>
            </a:r>
          </a:p>
        </p:txBody>
      </p:sp>
    </p:spTree>
    <p:extLst>
      <p:ext uri="{BB962C8B-B14F-4D97-AF65-F5344CB8AC3E}">
        <p14:creationId xmlns:p14="http://schemas.microsoft.com/office/powerpoint/2010/main" val="6927690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1">
            <a:extLst>
              <a:ext uri="{FF2B5EF4-FFF2-40B4-BE49-F238E27FC236}">
                <a16:creationId xmlns:a16="http://schemas.microsoft.com/office/drawing/2014/main" id="{07551F43-7790-4B00-9D3F-5BF4B079E071}"/>
              </a:ext>
            </a:extLst>
          </p:cNvPr>
          <p:cNvSpPr txBox="1">
            <a:spLocks/>
          </p:cNvSpPr>
          <p:nvPr/>
        </p:nvSpPr>
        <p:spPr>
          <a:xfrm>
            <a:off x="1277814" y="580292"/>
            <a:ext cx="8481648" cy="5027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s-PE" sz="3000" b="1" kern="1200">
                <a:solidFill>
                  <a:srgbClr val="0070C0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algn="ctr"/>
            <a:r>
              <a:rPr lang="es-ES" dirty="0"/>
              <a:t> Mejora del proceso (DAP / DOP)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2689FEA8-B097-1B7F-A97A-EC621CB26B69}"/>
              </a:ext>
            </a:extLst>
          </p:cNvPr>
          <p:cNvSpPr txBox="1"/>
          <p:nvPr/>
        </p:nvSpPr>
        <p:spPr>
          <a:xfrm>
            <a:off x="2402006" y="1859339"/>
            <a:ext cx="1003110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>
                <a:latin typeface="Arial" panose="020B0604020202020204" pitchFamily="34" charset="0"/>
                <a:cs typeface="Arial" panose="020B0604020202020204" pitchFamily="34" charset="0"/>
              </a:rPr>
              <a:t>Antes (sin LMS)</a:t>
            </a:r>
            <a:endParaRPr lang="es-E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MX" dirty="0">
                <a:latin typeface="Arial" panose="020B0604020202020204" pitchFamily="34" charset="0"/>
                <a:cs typeface="Arial" panose="020B0604020202020204" pitchFamily="34" charset="0"/>
              </a:rPr>
              <a:t>ERP enfocado principalmente en administración</a:t>
            </a:r>
            <a:r>
              <a:rPr lang="es-E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latin typeface="Arial" panose="020B0604020202020204" pitchFamily="34" charset="0"/>
                <a:cs typeface="Arial" panose="020B0604020202020204" pitchFamily="34" charset="0"/>
              </a:rPr>
              <a:t>Procesos académicos parcialmente manuales.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latin typeface="Arial" panose="020B0604020202020204" pitchFamily="34" charset="0"/>
                <a:cs typeface="Arial" panose="020B0604020202020204" pitchFamily="34" charset="0"/>
              </a:rPr>
              <a:t>Uso de herramientas complementarias.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latin typeface="Arial" panose="020B0604020202020204" pitchFamily="34" charset="0"/>
                <a:cs typeface="Arial" panose="020B0604020202020204" pitchFamily="34" charset="0"/>
              </a:rPr>
              <a:t>Seguimiento limitado.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latin typeface="Arial" panose="020B0604020202020204" pitchFamily="34" charset="0"/>
                <a:cs typeface="Arial" panose="020B0604020202020204" pitchFamily="34" charset="0"/>
              </a:rPr>
              <a:t>Consolidación manual de reportes.</a:t>
            </a:r>
          </a:p>
          <a:p>
            <a:r>
              <a:rPr lang="es-ES" b="1" dirty="0">
                <a:latin typeface="Arial" panose="020B0604020202020204" pitchFamily="34" charset="0"/>
                <a:cs typeface="Arial" panose="020B0604020202020204" pitchFamily="34" charset="0"/>
              </a:rPr>
              <a:t>Después (con LMS)</a:t>
            </a:r>
            <a:endParaRPr lang="es-E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latin typeface="Arial" panose="020B0604020202020204" pitchFamily="34" charset="0"/>
                <a:cs typeface="Arial" panose="020B0604020202020204" pitchFamily="34" charset="0"/>
              </a:rPr>
              <a:t>Información centralizada.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latin typeface="Arial" panose="020B0604020202020204" pitchFamily="34" charset="0"/>
                <a:cs typeface="Arial" panose="020B0604020202020204" pitchFamily="34" charset="0"/>
              </a:rPr>
              <a:t>Asistencia automatizada.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" dirty="0">
                <a:latin typeface="Arial" panose="020B0604020202020204" pitchFamily="34" charset="0"/>
                <a:cs typeface="Arial" panose="020B0604020202020204" pitchFamily="34" charset="0"/>
              </a:rPr>
              <a:t>Evaluaciones automatizadas.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MX" dirty="0">
                <a:latin typeface="Arial" panose="020B0604020202020204" pitchFamily="34" charset="0"/>
                <a:cs typeface="Arial" panose="020B0604020202020204" pitchFamily="34" charset="0"/>
              </a:rPr>
              <a:t>Seguimiento estudiantil en tiempo real.</a:t>
            </a:r>
            <a:endParaRPr lang="es-PE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PE" dirty="0"/>
              <a:t>Analítica académica integrada.</a:t>
            </a:r>
          </a:p>
        </p:txBody>
      </p:sp>
    </p:spTree>
    <p:extLst>
      <p:ext uri="{BB962C8B-B14F-4D97-AF65-F5344CB8AC3E}">
        <p14:creationId xmlns:p14="http://schemas.microsoft.com/office/powerpoint/2010/main" val="6631486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1">
            <a:extLst>
              <a:ext uri="{FF2B5EF4-FFF2-40B4-BE49-F238E27FC236}">
                <a16:creationId xmlns:a16="http://schemas.microsoft.com/office/drawing/2014/main" id="{70CEBBBB-AB7C-49AC-9DB2-0EF4348A59CD}"/>
              </a:ext>
            </a:extLst>
          </p:cNvPr>
          <p:cNvSpPr txBox="1">
            <a:spLocks/>
          </p:cNvSpPr>
          <p:nvPr/>
        </p:nvSpPr>
        <p:spPr>
          <a:xfrm>
            <a:off x="1277814" y="580292"/>
            <a:ext cx="8481648" cy="5027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s-PE" sz="3000" b="1" kern="1200">
                <a:solidFill>
                  <a:srgbClr val="0070C0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s-PE" dirty="0"/>
              <a:t> Beneficios esperados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F317202-EF36-32FF-2CB2-1B2EBD591843}"/>
              </a:ext>
            </a:extLst>
          </p:cNvPr>
          <p:cNvSpPr txBox="1"/>
          <p:nvPr/>
        </p:nvSpPr>
        <p:spPr>
          <a:xfrm>
            <a:off x="1012431" y="1823878"/>
            <a:ext cx="8747031" cy="2775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51510" indent="-285750" algn="just">
              <a:lnSpc>
                <a:spcPct val="15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s-ES" sz="1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Centralización de información académica.</a:t>
            </a:r>
          </a:p>
          <a:p>
            <a:pPr marL="651510" indent="-285750" algn="just">
              <a:lnSpc>
                <a:spcPct val="15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s-ES" sz="1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Gestión digital de contenidos. </a:t>
            </a:r>
          </a:p>
          <a:p>
            <a:pPr marL="651510" indent="-285750" algn="just">
              <a:lnSpc>
                <a:spcPct val="15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s-ES" sz="1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Seguimiento académico permanente.</a:t>
            </a:r>
          </a:p>
          <a:p>
            <a:pPr marL="651510" indent="-285750" algn="just">
              <a:lnSpc>
                <a:spcPct val="15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s-ES" sz="1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Reducción de tareas administrativas.</a:t>
            </a:r>
          </a:p>
          <a:p>
            <a:pPr marL="651510" indent="-285750" algn="just">
              <a:lnSpc>
                <a:spcPct val="15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s-MX" sz="1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Mejor control institucional.</a:t>
            </a:r>
            <a:endParaRPr lang="es-ES" sz="1600" dirty="0"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651510" indent="-285750" algn="just">
              <a:lnSpc>
                <a:spcPct val="15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s-MX" sz="1600" dirty="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Optimización de recursos administrativos.</a:t>
            </a:r>
          </a:p>
        </p:txBody>
      </p:sp>
    </p:spTree>
    <p:extLst>
      <p:ext uri="{BB962C8B-B14F-4D97-AF65-F5344CB8AC3E}">
        <p14:creationId xmlns:p14="http://schemas.microsoft.com/office/powerpoint/2010/main" val="28675869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1">
            <a:extLst>
              <a:ext uri="{FF2B5EF4-FFF2-40B4-BE49-F238E27FC236}">
                <a16:creationId xmlns:a16="http://schemas.microsoft.com/office/drawing/2014/main" id="{F7EFE982-30F3-425B-998E-5D32AB36F9A2}"/>
              </a:ext>
            </a:extLst>
          </p:cNvPr>
          <p:cNvSpPr txBox="1">
            <a:spLocks/>
          </p:cNvSpPr>
          <p:nvPr/>
        </p:nvSpPr>
        <p:spPr>
          <a:xfrm>
            <a:off x="1277814" y="580292"/>
            <a:ext cx="8481648" cy="5027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s-PE" sz="3000" b="1" kern="1200">
                <a:solidFill>
                  <a:srgbClr val="0070C0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algn="ctr"/>
            <a:r>
              <a:rPr lang="es-PE" sz="27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CONCLUSIONES</a:t>
            </a:r>
          </a:p>
        </p:txBody>
      </p:sp>
      <p:sp>
        <p:nvSpPr>
          <p:cNvPr id="2" name="Marcador de contenido 1"/>
          <p:cNvSpPr>
            <a:spLocks noGrp="1"/>
          </p:cNvSpPr>
          <p:nvPr>
            <p:ph idx="1"/>
          </p:nvPr>
        </p:nvSpPr>
        <p:spPr>
          <a:xfrm>
            <a:off x="1538287" y="1641095"/>
            <a:ext cx="9115425" cy="4814033"/>
          </a:xfrm>
        </p:spPr>
        <p:txBody>
          <a:bodyPr>
            <a:normAutofit/>
          </a:bodyPr>
          <a:lstStyle/>
          <a:p>
            <a:pPr algn="just"/>
            <a:r>
              <a:rPr lang="es-MX" sz="1600" dirty="0"/>
              <a:t>La implementación de un LMS fortalecerá la gestión académica de </a:t>
            </a:r>
            <a:r>
              <a:rPr lang="es-MX" sz="1600" dirty="0" err="1"/>
              <a:t>Systematic</a:t>
            </a:r>
            <a:r>
              <a:rPr lang="es-ES" sz="1600" dirty="0"/>
              <a:t>.</a:t>
            </a:r>
          </a:p>
          <a:p>
            <a:pPr marL="0" indent="0" algn="just">
              <a:buNone/>
            </a:pPr>
            <a:endParaRPr lang="es-ES" sz="1600" dirty="0"/>
          </a:p>
          <a:p>
            <a:pPr algn="just"/>
            <a:r>
              <a:rPr lang="es-MX" sz="1600" dirty="0"/>
              <a:t>El sistema permitirá centralizar cursos, evaluaciones, asistencia y contenidos educativos</a:t>
            </a:r>
            <a:r>
              <a:rPr lang="es-ES" sz="1600" dirty="0"/>
              <a:t>.</a:t>
            </a:r>
          </a:p>
          <a:p>
            <a:pPr marL="0" indent="0" algn="just">
              <a:buNone/>
            </a:pPr>
            <a:endParaRPr lang="es-ES" sz="1600" dirty="0"/>
          </a:p>
          <a:p>
            <a:pPr algn="just"/>
            <a:r>
              <a:rPr lang="es-MX" sz="1600" dirty="0"/>
              <a:t>La automatización y analítica académica mejorarán el seguimiento estudiantil y la toma de decisiones</a:t>
            </a:r>
            <a:r>
              <a:rPr lang="es-ES" sz="1600" dirty="0"/>
              <a:t>.</a:t>
            </a:r>
          </a:p>
          <a:p>
            <a:pPr marL="0" indent="0" algn="just">
              <a:buNone/>
            </a:pPr>
            <a:endParaRPr lang="es-ES" sz="1600" dirty="0"/>
          </a:p>
          <a:p>
            <a:pPr algn="just"/>
            <a:r>
              <a:rPr lang="es-MX" sz="1600" dirty="0"/>
              <a:t>La evaluación técnica y económica demuestra que el proyecto es viable y aporta valor estratégico para el crecimiento de la empresa</a:t>
            </a:r>
            <a:r>
              <a:rPr lang="es-ES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685128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78449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4000">
        <p14:vortex dir="r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DEB82B2B10272B40BF91F1A80B7B054F" ma:contentTypeVersion="10" ma:contentTypeDescription="Crear nuevo documento." ma:contentTypeScope="" ma:versionID="fcb531e271ed16c24af858129eaf7846">
  <xsd:schema xmlns:xsd="http://www.w3.org/2001/XMLSchema" xmlns:xs="http://www.w3.org/2001/XMLSchema" xmlns:p="http://schemas.microsoft.com/office/2006/metadata/properties" xmlns:ns2="ddfe794d-f0e1-48c4-9e59-e544900a7322" xmlns:ns3="8e73a5ee-772f-4a3c-a10c-9b8ba2114b2b" targetNamespace="http://schemas.microsoft.com/office/2006/metadata/properties" ma:root="true" ma:fieldsID="a9b9c388b1bdabb72173b998aedaa4d1" ns2:_="" ns3:_="">
    <xsd:import namespace="ddfe794d-f0e1-48c4-9e59-e544900a7322"/>
    <xsd:import namespace="8e73a5ee-772f-4a3c-a10c-9b8ba2114b2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dfe794d-f0e1-48c4-9e59-e544900a73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Etiquetas de imagen" ma:readOnly="false" ma:fieldId="{5cf76f15-5ced-4ddc-b409-7134ff3c332f}" ma:taxonomyMulti="true" ma:sspId="d52fdab2-6c3d-4202-bac0-8ffa5bf1698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e73a5ee-772f-4a3c-a10c-9b8ba2114b2b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071dcef8-504b-4bc3-b344-c6f3a57bf29b}" ma:internalName="TaxCatchAll" ma:showField="CatchAllData" ma:web="8e73a5ee-772f-4a3c-a10c-9b8ba2114b2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35EF942-BB26-4033-8CE3-C2B628ED2D6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dfe794d-f0e1-48c4-9e59-e544900a7322"/>
    <ds:schemaRef ds:uri="8e73a5ee-772f-4a3c-a10c-9b8ba2114b2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77A29F0-16A9-4560-8FC5-A672DFB4D53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7898</TotalTime>
  <Words>522</Words>
  <Application>Microsoft Office PowerPoint</Application>
  <PresentationFormat>Panorámica</PresentationFormat>
  <Paragraphs>92</Paragraphs>
  <Slides>11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6" baseType="lpstr">
      <vt:lpstr>Arial</vt:lpstr>
      <vt:lpstr>Arial Black</vt:lpstr>
      <vt:lpstr>Calibri</vt:lpstr>
      <vt:lpstr>Calibri Light</vt:lpstr>
      <vt:lpstr>Tema de Office</vt:lpstr>
      <vt:lpstr>Sistema LMS Inteligente Integrado con ERP para la optimización de la gestión académica en la empresa Systematic.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Jose Sergio Felix Jacobo</dc:creator>
  <cp:lastModifiedBy>SALAS VASQUEZ, FABIAN ALONZO</cp:lastModifiedBy>
  <cp:revision>186</cp:revision>
  <dcterms:created xsi:type="dcterms:W3CDTF">2020-11-02T19:43:51Z</dcterms:created>
  <dcterms:modified xsi:type="dcterms:W3CDTF">2026-07-09T02:25:11Z</dcterms:modified>
</cp:coreProperties>
</file>